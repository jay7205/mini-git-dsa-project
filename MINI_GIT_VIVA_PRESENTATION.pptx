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MINI GIT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ADD8E6"/>
                </a:solidFill>
              </a:defRPr>
            </a:pPr>
            <a:r>
              <a:t>A Version Control System Using</a:t>
            </a:r>
          </a:p>
          <a:p>
            <a:r>
              <a:t>Data Structures &amp;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0C0C0"/>
                </a:solidFill>
              </a:defRPr>
            </a:pPr>
            <a:r>
              <a:t>DSA in Python - End Semester Project | 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Presentation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/>
            </a:pPr>
            <a:r>
              <a:t>Problem Statement &amp; Objectives</a:t>
            </a:r>
          </a:p>
          <a:p>
            <a:pPr>
              <a:spcBef>
                <a:spcPts val="1200"/>
              </a:spcBef>
              <a:defRPr sz="2000"/>
            </a:pPr>
            <a:r>
              <a:t>System Architecture</a:t>
            </a:r>
          </a:p>
          <a:p>
            <a:pPr>
              <a:spcBef>
                <a:spcPts val="1200"/>
              </a:spcBef>
              <a:defRPr sz="2000"/>
            </a:pPr>
            <a:r>
              <a:t>Data Structures Implementation</a:t>
            </a:r>
          </a:p>
          <a:p>
            <a:pPr>
              <a:spcBef>
                <a:spcPts val="1200"/>
              </a:spcBef>
              <a:defRPr sz="2000"/>
            </a:pPr>
            <a:r>
              <a:t>Algorithms Used</a:t>
            </a:r>
          </a:p>
          <a:p>
            <a:pPr>
              <a:spcBef>
                <a:spcPts val="1200"/>
              </a:spcBef>
              <a:defRPr sz="2000"/>
            </a:pPr>
            <a:r>
              <a:t>Key Features</a:t>
            </a:r>
          </a:p>
          <a:p>
            <a:pPr>
              <a:spcBef>
                <a:spcPts val="1200"/>
              </a:spcBef>
              <a:defRPr sz="2000"/>
            </a:pPr>
            <a:r>
              <a:t>Testing &amp; Results</a:t>
            </a:r>
          </a:p>
          <a:p>
            <a:pPr>
              <a:spcBef>
                <a:spcPts val="1200"/>
              </a:spcBef>
              <a:defRPr sz="2000"/>
            </a:pPr>
            <a:r>
              <a:t>Complexity Analysis</a:t>
            </a:r>
          </a:p>
          <a:p>
            <a:pPr>
              <a:spcBef>
                <a:spcPts val="1200"/>
              </a:spcBef>
              <a:defRPr sz="2000"/>
            </a:pPr>
            <a:r>
              <a:t>Live Demonstration</a:t>
            </a:r>
          </a:p>
          <a:p>
            <a:pPr>
              <a:spcBef>
                <a:spcPts val="1200"/>
              </a:spcBef>
              <a:defRPr sz="2000"/>
            </a:pPr>
            <a:r>
              <a:t>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The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/>
            </a:pPr>
            <a:r>
              <a:t>Design a version control system from scratch</a:t>
            </a:r>
          </a:p>
          <a:p>
            <a:pPr>
              <a:spcBef>
                <a:spcPts val="1200"/>
              </a:spcBef>
              <a:defRPr sz="2000"/>
            </a:pPr>
            <a:r>
              <a:t>Demonstrate practical DSA applications</a:t>
            </a:r>
          </a:p>
          <a:p>
            <a:pPr>
              <a:spcBef>
                <a:spcPts val="1200"/>
              </a:spcBef>
              <a:defRPr sz="2000"/>
            </a:pPr>
            <a:r>
              <a:t>Implement core Git operations</a:t>
            </a:r>
          </a:p>
          <a:p>
            <a:pPr>
              <a:spcBef>
                <a:spcPts val="1200"/>
              </a:spcBef>
              <a:defRPr sz="2000"/>
            </a:pPr>
            <a:r>
              <a:t>Achieve optimal time &amp; space complexity</a:t>
            </a:r>
          </a:p>
          <a:p>
            <a:pPr>
              <a:spcBef>
                <a:spcPts val="1200"/>
              </a:spcBef>
              <a:defRPr sz="2000"/>
            </a:pPr>
            <a:r>
              <a:t>Use only Python standard library</a:t>
            </a:r>
          </a:p>
          <a:p>
            <a:pPr>
              <a:spcBef>
                <a:spcPts val="1200"/>
              </a:spcBef>
              <a:defRPr sz="2000"/>
            </a:pPr>
            <a:r>
              <a:t>Create educational demonstrations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/>
            </a:pPr>
            <a:r>
              <a:t>✓ Hash Tables for O(1) object storage</a:t>
            </a:r>
          </a:p>
          <a:p>
            <a:pPr>
              <a:spcBef>
                <a:spcPts val="1200"/>
              </a:spcBef>
              <a:defRPr sz="2000"/>
            </a:pPr>
            <a:r>
              <a:t>✓ N-ary Trees for directory structure</a:t>
            </a:r>
          </a:p>
          <a:p>
            <a:pPr>
              <a:spcBef>
                <a:spcPts val="1200"/>
              </a:spcBef>
              <a:defRPr sz="2000"/>
            </a:pPr>
            <a:r>
              <a:t>✓ Linked Lists for commit history</a:t>
            </a:r>
          </a:p>
          <a:p>
            <a:pPr>
              <a:spcBef>
                <a:spcPts val="1200"/>
              </a:spcBef>
              <a:defRPr sz="2000"/>
            </a:pPr>
            <a:r>
              <a:t>✓ DAG for branch management</a:t>
            </a:r>
          </a:p>
          <a:p>
            <a:pPr>
              <a:spcBef>
                <a:spcPts val="1200"/>
              </a:spcBef>
              <a:defRPr sz="2000"/>
            </a:pPr>
            <a:r>
              <a:t>✓ Dynamic Programming for diff algorithm</a:t>
            </a:r>
          </a:p>
          <a:p>
            <a:pPr>
              <a:spcBef>
                <a:spcPts val="1200"/>
              </a:spcBef>
              <a:defRPr sz="2000"/>
            </a:pPr>
            <a:r>
              <a:t>✓ Complete documentation &amp; testing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Modular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/>
            </a:pPr>
            <a:r>
              <a:t>hash_object.py → SHA-1 hashing + storage</a:t>
            </a:r>
          </a:p>
          <a:p>
            <a:pPr>
              <a:spcBef>
                <a:spcPts val="1200"/>
              </a:spcBef>
              <a:defRPr sz="2000"/>
            </a:pPr>
            <a:r>
              <a:t>tree.py → N-ary tree for directories</a:t>
            </a:r>
          </a:p>
          <a:p>
            <a:pPr>
              <a:spcBef>
                <a:spcPts val="1200"/>
              </a:spcBef>
              <a:defRPr sz="2000"/>
            </a:pPr>
            <a:r>
              <a:t>commit.py → Linked list for history</a:t>
            </a:r>
          </a:p>
          <a:p>
            <a:pPr>
              <a:spcBef>
                <a:spcPts val="1200"/>
              </a:spcBef>
              <a:defRPr sz="2000"/>
            </a:pPr>
            <a:r>
              <a:t>branch.py → DAG for branches</a:t>
            </a:r>
          </a:p>
          <a:p>
            <a:pPr>
              <a:spcBef>
                <a:spcPts val="1200"/>
              </a:spcBef>
              <a:defRPr sz="2000"/>
            </a:pPr>
            <a:r>
              <a:t>staging.py → Hash table for staging</a:t>
            </a:r>
          </a:p>
          <a:p>
            <a:pPr>
              <a:spcBef>
                <a:spcPts val="1200"/>
              </a:spcBef>
              <a:defRPr sz="2000"/>
            </a:pPr>
            <a:r>
              <a:t>diff.py → LCS algorithm (DP)</a:t>
            </a:r>
          </a:p>
          <a:p>
            <a:pPr>
              <a:spcBef>
                <a:spcPts val="1200"/>
              </a:spcBef>
              <a:defRPr sz="2000"/>
            </a:pPr>
            <a:r>
              <a:t>merge.py → Three-way merge</a:t>
            </a:r>
          </a:p>
          <a:p>
            <a:pPr>
              <a:spcBef>
                <a:spcPts val="1200"/>
              </a:spcBef>
              <a:defRPr sz="2000"/>
            </a:pPr>
            <a:r>
              <a:t>repository.py → Main orchestrator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Data Structures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DD8E6"/>
                </a:solidFill>
              </a:defRPr>
            </a:pPr>
            <a:r>
              <a:t>5 Core Structures Implemented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1. Hash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/>
            </a:pPr>
            <a:r>
              <a:t>Implementation: SHA-1 content-addressable storage</a:t>
            </a:r>
          </a:p>
          <a:p>
            <a:pPr>
              <a:spcBef>
                <a:spcPts val="1200"/>
              </a:spcBef>
              <a:defRPr sz="2000"/>
            </a:pPr>
            <a:r>
              <a:t>Usage: Object database, staging area, branches</a:t>
            </a:r>
          </a:p>
          <a:p>
            <a:pPr>
              <a:spcBef>
                <a:spcPts val="1200"/>
              </a:spcBef>
              <a:defRPr sz="2000"/>
            </a:pPr>
            <a:r>
              <a:t>Time Complexity: O(1) insert, lookup, delete</a:t>
            </a:r>
          </a:p>
          <a:p>
            <a:pPr>
              <a:spcBef>
                <a:spcPts val="1200"/>
              </a:spcBef>
              <a:defRPr sz="2000"/>
            </a:pPr>
            <a:r>
              <a:t>Space Complexity: O(k) for k objects</a:t>
            </a:r>
          </a:p>
          <a:p>
            <a:pPr>
              <a:spcBef>
                <a:spcPts val="1200"/>
              </a:spcBef>
              <a:defRPr sz="2000"/>
            </a:pPr>
            <a:r>
              <a:t>Key Benefit: Fast file tracking &amp; retrieval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2. N-ary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/>
            </a:pPr>
            <a:r>
              <a:t>Implementation: TreeNode with children dictionary</a:t>
            </a:r>
          </a:p>
          <a:p>
            <a:pPr>
              <a:spcBef>
                <a:spcPts val="1200"/>
              </a:spcBef>
              <a:defRPr sz="2000"/>
            </a:pPr>
            <a:r>
              <a:t>Usage: Directory hierarchy representation</a:t>
            </a:r>
          </a:p>
          <a:p>
            <a:pPr>
              <a:spcBef>
                <a:spcPts val="1200"/>
              </a:spcBef>
              <a:defRPr sz="2000"/>
            </a:pPr>
            <a:r>
              <a:t>Time Complexity: O(d) operations where d = depth</a:t>
            </a:r>
          </a:p>
          <a:p>
            <a:pPr>
              <a:spcBef>
                <a:spcPts val="1200"/>
              </a:spcBef>
              <a:defRPr sz="2000"/>
            </a:pPr>
            <a:r>
              <a:t>Space Complexity: O(n) for n files</a:t>
            </a:r>
          </a:p>
          <a:p>
            <a:pPr>
              <a:spcBef>
                <a:spcPts val="1200"/>
              </a:spcBef>
              <a:defRPr sz="2000"/>
            </a:pPr>
            <a:r>
              <a:t>Key Benefit: Natural file system mapping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3. Singly Linked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/>
            </a:pPr>
            <a:r>
              <a:t>Implementation: Commit with parent pointer</a:t>
            </a:r>
          </a:p>
          <a:p>
            <a:pPr>
              <a:spcBef>
                <a:spcPts val="1200"/>
              </a:spcBef>
              <a:defRPr sz="2000"/>
            </a:pPr>
            <a:r>
              <a:t>Usage: Commit history chain</a:t>
            </a:r>
          </a:p>
          <a:p>
            <a:pPr>
              <a:spcBef>
                <a:spcPts val="1200"/>
              </a:spcBef>
              <a:defRPr sz="2000"/>
            </a:pPr>
            <a:r>
              <a:t>Time Complexity: O(1) insert, O(k) traverse</a:t>
            </a:r>
          </a:p>
          <a:p>
            <a:pPr>
              <a:spcBef>
                <a:spcPts val="1200"/>
              </a:spcBef>
              <a:defRPr sz="2000"/>
            </a:pPr>
            <a:r>
              <a:t>Space Complexity: O(n) for n commits</a:t>
            </a:r>
          </a:p>
          <a:p>
            <a:pPr>
              <a:spcBef>
                <a:spcPts val="1200"/>
              </a:spcBef>
              <a:defRPr sz="2000"/>
            </a:pPr>
            <a:r>
              <a:t>Key Benefit: Simple history tracking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4. Directed Acyclic Graph (DAG)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/>
            </a:pPr>
            <a:r>
              <a:t>Implementation: Branches pointing to commits</a:t>
            </a:r>
          </a:p>
          <a:p>
            <a:pPr>
              <a:spcBef>
                <a:spcPts val="1200"/>
              </a:spcBef>
              <a:defRPr sz="2000"/>
            </a:pPr>
            <a:r>
              <a:t>Usage: Branch relationships, merge base</a:t>
            </a:r>
          </a:p>
          <a:p>
            <a:pPr>
              <a:spcBef>
                <a:spcPts val="1200"/>
              </a:spcBef>
              <a:defRPr sz="2000"/>
            </a:pPr>
            <a:r>
              <a:t>Time Complexity: O(1) branch ops, O(n+m) ancestor</a:t>
            </a:r>
          </a:p>
          <a:p>
            <a:pPr>
              <a:spcBef>
                <a:spcPts val="1200"/>
              </a:spcBef>
              <a:defRPr sz="2000"/>
            </a:pPr>
            <a:r>
              <a:t>Space Complexity: O(b) for b branches</a:t>
            </a:r>
          </a:p>
          <a:p>
            <a:pPr>
              <a:spcBef>
                <a:spcPts val="1200"/>
              </a:spcBef>
              <a:defRPr sz="2000"/>
            </a:pPr>
            <a:r>
              <a:t>Key Benefit: Efficient branch management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Key Algorithms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Longest Common Subsequence (LCS)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/>
            </a:pPr>
            <a:r>
              <a:t>Algorithm: Dynamic Programming</a:t>
            </a:r>
          </a:p>
          <a:p>
            <a:pPr>
              <a:spcBef>
                <a:spcPts val="1200"/>
              </a:spcBef>
              <a:defRPr sz="2000"/>
            </a:pPr>
            <a:r>
              <a:t>Application: File diff computation</a:t>
            </a:r>
          </a:p>
          <a:p>
            <a:pPr>
              <a:spcBef>
                <a:spcPts val="1200"/>
              </a:spcBef>
              <a:defRPr sz="2000"/>
            </a:pPr>
            <a:r>
              <a:t>Recurrence: dp[i][j] = max(dp[i-1][j], dp[i][j-1])</a:t>
            </a:r>
          </a:p>
          <a:p>
            <a:pPr>
              <a:spcBef>
                <a:spcPts val="1200"/>
              </a:spcBef>
              <a:defRPr sz="2000"/>
            </a:pPr>
            <a:r>
              <a:t>Time Complexity: O(m × n)</a:t>
            </a:r>
          </a:p>
          <a:p>
            <a:pPr>
              <a:spcBef>
                <a:spcPts val="1200"/>
              </a:spcBef>
              <a:defRPr sz="2000"/>
            </a:pPr>
            <a:r>
              <a:t>Space Complexity: O(m × n) for DP table</a:t>
            </a:r>
          </a:p>
          <a:p>
            <a:pPr>
              <a:spcBef>
                <a:spcPts val="1200"/>
              </a:spcBef>
              <a:defRPr sz="2000"/>
            </a:pPr>
            <a:r>
              <a:t>Result: Optimal line-by-line differences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Additional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/>
            </a:pPr>
            <a:r>
              <a:t>SHA-1 Hashing: O(n) content identification</a:t>
            </a:r>
          </a:p>
          <a:p>
            <a:pPr>
              <a:spcBef>
                <a:spcPts val="1200"/>
              </a:spcBef>
              <a:defRPr sz="2000"/>
            </a:pPr>
            <a:r>
              <a:t>DFS Traversal: O(n) tree serialization</a:t>
            </a:r>
          </a:p>
          <a:p>
            <a:pPr>
              <a:spcBef>
                <a:spcPts val="1200"/>
              </a:spcBef>
              <a:defRPr sz="2000"/>
            </a:pPr>
            <a:r>
              <a:t>Graph Traversal: O(n+m) common ancestor</a:t>
            </a:r>
          </a:p>
          <a:p>
            <a:pPr>
              <a:spcBef>
                <a:spcPts val="1200"/>
              </a:spcBef>
              <a:defRPr sz="2000"/>
            </a:pPr>
            <a:r>
              <a:t>Three-Way Merge: O(p) conflict detection</a:t>
            </a:r>
          </a:p>
          <a:p>
            <a:pPr>
              <a:spcBef>
                <a:spcPts val="1200"/>
              </a:spcBef>
              <a:defRPr sz="2000"/>
            </a:pPr>
            <a:r>
              <a:t>All optimized for real-world performance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Implemented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DD8E6"/>
                </a:solidFill>
              </a:defRPr>
            </a:pPr>
            <a:r>
              <a:t>9 Working Commands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Command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/>
            </a:pPr>
            <a:r>
              <a:t>init → Initialize repository</a:t>
            </a:r>
          </a:p>
          <a:p>
            <a:pPr>
              <a:spcBef>
                <a:spcPts val="1200"/>
              </a:spcBef>
              <a:defRPr sz="2000"/>
            </a:pPr>
            <a:r>
              <a:t>add → Stage files (hash table)</a:t>
            </a:r>
          </a:p>
          <a:p>
            <a:pPr>
              <a:spcBef>
                <a:spcPts val="1200"/>
              </a:spcBef>
              <a:defRPr sz="2000"/>
            </a:pPr>
            <a:r>
              <a:t>commit → Create commits (linked list)</a:t>
            </a:r>
          </a:p>
          <a:p>
            <a:pPr>
              <a:spcBef>
                <a:spcPts val="1200"/>
              </a:spcBef>
              <a:defRPr sz="2000"/>
            </a:pPr>
            <a:r>
              <a:t>log → View history (traversal)</a:t>
            </a:r>
          </a:p>
          <a:p>
            <a:pPr>
              <a:spcBef>
                <a:spcPts val="1200"/>
              </a:spcBef>
              <a:defRPr sz="2000"/>
            </a:pPr>
            <a:r>
              <a:t>status → Check changes (hash comparison)</a:t>
            </a:r>
          </a:p>
          <a:p>
            <a:pPr>
              <a:spcBef>
                <a:spcPts val="1200"/>
              </a:spcBef>
              <a:defRPr sz="2000"/>
            </a:pPr>
            <a:r>
              <a:t>branch → Manage branches (DAG)</a:t>
            </a:r>
          </a:p>
          <a:p>
            <a:pPr>
              <a:spcBef>
                <a:spcPts val="1200"/>
              </a:spcBef>
              <a:defRPr sz="2000"/>
            </a:pPr>
            <a:r>
              <a:t>checkout → Switch branches</a:t>
            </a:r>
          </a:p>
          <a:p>
            <a:pPr>
              <a:spcBef>
                <a:spcPts val="1200"/>
              </a:spcBef>
              <a:defRPr sz="2000"/>
            </a:pPr>
            <a:r>
              <a:t>diff → Show changes (LCS)</a:t>
            </a:r>
          </a:p>
          <a:p>
            <a:pPr>
              <a:spcBef>
                <a:spcPts val="1200"/>
              </a:spcBef>
              <a:defRPr sz="2000"/>
            </a:pPr>
            <a:r>
              <a:t>merge → Combine branches (3-way merge)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Testing &amp; Validation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Comprehensive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/>
            </a:pPr>
            <a:r>
              <a:t>✓ Unit Tests: 15/15 passed</a:t>
            </a:r>
          </a:p>
          <a:p>
            <a:pPr>
              <a:spcBef>
                <a:spcPts val="1200"/>
              </a:spcBef>
              <a:defRPr sz="2000"/>
            </a:pPr>
            <a:r>
              <a:t>✓ Integration Tests: 8/8 passed</a:t>
            </a:r>
          </a:p>
          <a:p>
            <a:pPr>
              <a:spcBef>
                <a:spcPts val="1200"/>
              </a:spcBef>
              <a:defRPr sz="2000"/>
            </a:pPr>
            <a:r>
              <a:t>✓ Performance Tests: 5/5 passed</a:t>
            </a:r>
          </a:p>
          <a:p>
            <a:pPr>
              <a:spcBef>
                <a:spcPts val="1200"/>
              </a:spcBef>
              <a:defRPr sz="2000"/>
            </a:pPr>
            <a:r>
              <a:t>✓ Jupyter Notebooks: 3/3 working</a:t>
            </a:r>
          </a:p>
          <a:p>
            <a:pPr>
              <a:spcBef>
                <a:spcPts val="1200"/>
              </a:spcBef>
              <a:defRPr sz="2000"/>
            </a:pPr>
            <a:r>
              <a:t>✓ Total Success Rate: 100% (31/31)</a:t>
            </a:r>
          </a:p>
          <a:p>
            <a:pPr>
              <a:spcBef>
                <a:spcPts val="1200"/>
              </a:spcBef>
              <a:defRPr sz="2000"/>
            </a:pPr>
            <a:r>
              <a:t>✓ All commands verified through CLI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Complexity Analysis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Time Complexity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/>
            </a:pPr>
            <a:r>
              <a:t>Hash table ops: O(1) average case</a:t>
            </a:r>
          </a:p>
          <a:p>
            <a:pPr>
              <a:spcBef>
                <a:spcPts val="1200"/>
              </a:spcBef>
              <a:defRPr sz="2000"/>
            </a:pPr>
            <a:r>
              <a:t>Tree operations: O(d) where d = depth</a:t>
            </a:r>
          </a:p>
          <a:p>
            <a:pPr>
              <a:spcBef>
                <a:spcPts val="1200"/>
              </a:spcBef>
              <a:defRPr sz="2000"/>
            </a:pPr>
            <a:r>
              <a:t>Commit creation: O(1)</a:t>
            </a:r>
          </a:p>
          <a:p>
            <a:pPr>
              <a:spcBef>
                <a:spcPts val="1200"/>
              </a:spcBef>
              <a:defRPr sz="2000"/>
            </a:pPr>
            <a:r>
              <a:t>History retrieval: O(k) for k commits</a:t>
            </a:r>
          </a:p>
          <a:p>
            <a:pPr>
              <a:spcBef>
                <a:spcPts val="1200"/>
              </a:spcBef>
              <a:defRPr sz="2000"/>
            </a:pPr>
            <a:r>
              <a:t>Branch operations: O(1)</a:t>
            </a:r>
          </a:p>
          <a:p>
            <a:pPr>
              <a:spcBef>
                <a:spcPts val="1200"/>
              </a:spcBef>
              <a:defRPr sz="2000"/>
            </a:pPr>
            <a:r>
              <a:t>Common ancestor: O(n+m)</a:t>
            </a:r>
          </a:p>
          <a:p>
            <a:pPr>
              <a:spcBef>
                <a:spcPts val="1200"/>
              </a:spcBef>
              <a:defRPr sz="2000"/>
            </a:pPr>
            <a:r>
              <a:t>Diff computation: O(m×n)</a:t>
            </a:r>
          </a:p>
          <a:p>
            <a:pPr>
              <a:spcBef>
                <a:spcPts val="1200"/>
              </a:spcBef>
              <a:defRPr sz="2000"/>
            </a:pPr>
            <a:r>
              <a:t>All complexity targets achieved ✓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Project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/>
            </a:pPr>
            <a:r>
              <a:t>✓ 1,700+ lines of production code</a:t>
            </a:r>
          </a:p>
          <a:p>
            <a:pPr>
              <a:spcBef>
                <a:spcPts val="1200"/>
              </a:spcBef>
              <a:defRPr sz="2000"/>
            </a:pPr>
            <a:r>
              <a:t>✓ 800+ lines of documentation</a:t>
            </a:r>
          </a:p>
          <a:p>
            <a:pPr>
              <a:spcBef>
                <a:spcPts val="1200"/>
              </a:spcBef>
              <a:defRPr sz="2000"/>
            </a:pPr>
            <a:r>
              <a:t>✓ Zero external dependencies</a:t>
            </a:r>
          </a:p>
          <a:p>
            <a:pPr>
              <a:spcBef>
                <a:spcPts val="1200"/>
              </a:spcBef>
              <a:defRPr sz="2000"/>
            </a:pPr>
            <a:r>
              <a:t>✓ Complete working implementation</a:t>
            </a:r>
          </a:p>
          <a:p>
            <a:pPr>
              <a:spcBef>
                <a:spcPts val="1200"/>
              </a:spcBef>
              <a:defRPr sz="2000"/>
            </a:pPr>
            <a:r>
              <a:t>✓ 3 interactive demo notebooks</a:t>
            </a:r>
          </a:p>
          <a:p>
            <a:pPr>
              <a:spcBef>
                <a:spcPts val="1200"/>
              </a:spcBef>
              <a:defRPr sz="2000"/>
            </a:pPr>
            <a:r>
              <a:t>✓ Professional documentation</a:t>
            </a:r>
          </a:p>
          <a:p>
            <a:pPr>
              <a:spcBef>
                <a:spcPts val="1200"/>
              </a:spcBef>
              <a:defRPr sz="2000"/>
            </a:pPr>
            <a:r>
              <a:t>✓ 100% test success rate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Code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/>
            </a:pPr>
            <a:r>
              <a:t>9 Python modules (8 core + 1 CLI)</a:t>
            </a:r>
          </a:p>
          <a:p>
            <a:pPr>
              <a:spcBef>
                <a:spcPts val="1200"/>
              </a:spcBef>
              <a:defRPr sz="2000"/>
            </a:pPr>
            <a:r>
              <a:t>20 total project files</a:t>
            </a:r>
          </a:p>
          <a:p>
            <a:pPr>
              <a:spcBef>
                <a:spcPts val="1200"/>
              </a:spcBef>
              <a:defRPr sz="2000"/>
            </a:pPr>
            <a:r>
              <a:t>5 data structures implemented</a:t>
            </a:r>
          </a:p>
          <a:p>
            <a:pPr>
              <a:spcBef>
                <a:spcPts val="1200"/>
              </a:spcBef>
              <a:defRPr sz="2000"/>
            </a:pPr>
            <a:r>
              <a:t>6 algorithms coded from scratch</a:t>
            </a:r>
          </a:p>
          <a:p>
            <a:pPr>
              <a:spcBef>
                <a:spcPts val="1200"/>
              </a:spcBef>
              <a:defRPr sz="2000"/>
            </a:pPr>
            <a:r>
              <a:t>9 Git commands functional</a:t>
            </a:r>
          </a:p>
          <a:p>
            <a:pPr>
              <a:spcBef>
                <a:spcPts val="1200"/>
              </a:spcBef>
              <a:defRPr sz="2000"/>
            </a:pPr>
            <a:r>
              <a:t>Educational &amp; production quality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Live Demonstration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Demo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/>
            </a:pPr>
            <a:r>
              <a:t>1. Initialize repository (init)</a:t>
            </a:r>
          </a:p>
          <a:p>
            <a:pPr>
              <a:spcBef>
                <a:spcPts val="1200"/>
              </a:spcBef>
              <a:defRPr sz="2000"/>
            </a:pPr>
            <a:r>
              <a:t>2. Create and stage files (add)</a:t>
            </a:r>
          </a:p>
          <a:p>
            <a:pPr>
              <a:spcBef>
                <a:spcPts val="1200"/>
              </a:spcBef>
              <a:defRPr sz="2000"/>
            </a:pPr>
            <a:r>
              <a:t>3. Create commits (commit)</a:t>
            </a:r>
          </a:p>
          <a:p>
            <a:pPr>
              <a:spcBef>
                <a:spcPts val="1200"/>
              </a:spcBef>
              <a:defRPr sz="2000"/>
            </a:pPr>
            <a:r>
              <a:t>4. View history (log)</a:t>
            </a:r>
          </a:p>
          <a:p>
            <a:pPr>
              <a:spcBef>
                <a:spcPts val="1200"/>
              </a:spcBef>
              <a:defRPr sz="2000"/>
            </a:pPr>
            <a:r>
              <a:t>5. Create branches (branch)</a:t>
            </a:r>
          </a:p>
          <a:p>
            <a:pPr>
              <a:spcBef>
                <a:spcPts val="1200"/>
              </a:spcBef>
              <a:defRPr sz="2000"/>
            </a:pPr>
            <a:r>
              <a:t>6. Switch branches (checkout)</a:t>
            </a:r>
          </a:p>
          <a:p>
            <a:pPr>
              <a:spcBef>
                <a:spcPts val="1200"/>
              </a:spcBef>
              <a:defRPr sz="2000"/>
            </a:pPr>
            <a:r>
              <a:t>7. Show differences (diff)</a:t>
            </a:r>
          </a:p>
          <a:p>
            <a:pPr>
              <a:spcBef>
                <a:spcPts val="1200"/>
              </a:spcBef>
              <a:defRPr sz="2000"/>
            </a:pPr>
            <a:r>
              <a:t>8. Merge branches (merge)</a:t>
            </a:r>
          </a:p>
          <a:p>
            <a:pPr>
              <a:spcBef>
                <a:spcPts val="1200"/>
              </a:spcBef>
              <a:defRPr sz="2000"/>
            </a:pPr>
            <a:r>
              <a:t>All features working live!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Key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/>
            </a:pPr>
            <a:r>
              <a:t>Deep understanding of hash tables</a:t>
            </a:r>
          </a:p>
          <a:p>
            <a:pPr>
              <a:spcBef>
                <a:spcPts val="1200"/>
              </a:spcBef>
              <a:defRPr sz="2000"/>
            </a:pPr>
            <a:r>
              <a:t>Practical tree implementations</a:t>
            </a:r>
          </a:p>
          <a:p>
            <a:pPr>
              <a:spcBef>
                <a:spcPts val="1200"/>
              </a:spcBef>
              <a:defRPr sz="2000"/>
            </a:pPr>
            <a:r>
              <a:t>Graph algorithms in real systems</a:t>
            </a:r>
          </a:p>
          <a:p>
            <a:pPr>
              <a:spcBef>
                <a:spcPts val="1200"/>
              </a:spcBef>
              <a:defRPr sz="2000"/>
            </a:pPr>
            <a:r>
              <a:t>Dynamic programming applications</a:t>
            </a:r>
          </a:p>
          <a:p>
            <a:pPr>
              <a:spcBef>
                <a:spcPts val="1200"/>
              </a:spcBef>
              <a:defRPr sz="2000"/>
            </a:pPr>
            <a:r>
              <a:t>Software architecture design</a:t>
            </a:r>
          </a:p>
          <a:p>
            <a:pPr>
              <a:spcBef>
                <a:spcPts val="1200"/>
              </a:spcBef>
              <a:defRPr sz="2000"/>
            </a:pPr>
            <a:r>
              <a:t>Testing &amp; validation strategies</a:t>
            </a:r>
          </a:p>
          <a:p>
            <a:pPr>
              <a:spcBef>
                <a:spcPts val="1200"/>
              </a:spcBef>
              <a:defRPr sz="2000"/>
            </a:pPr>
            <a:r>
              <a:t>Documentation best practices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Challenges Overcome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/>
            </a:pPr>
            <a:r>
              <a:t>File storage hash consistency</a:t>
            </a:r>
          </a:p>
          <a:p>
            <a:pPr>
              <a:spcBef>
                <a:spcPts val="1200"/>
              </a:spcBef>
              <a:defRPr sz="2000"/>
            </a:pPr>
            <a:r>
              <a:t>Three-way merge complexity</a:t>
            </a:r>
          </a:p>
          <a:p>
            <a:pPr>
              <a:spcBef>
                <a:spcPts val="1200"/>
              </a:spcBef>
              <a:defRPr sz="2000"/>
            </a:pPr>
            <a:r>
              <a:t>Tree serialization/deserialization</a:t>
            </a:r>
          </a:p>
          <a:p>
            <a:pPr>
              <a:spcBef>
                <a:spcPts val="1200"/>
              </a:spcBef>
              <a:defRPr sz="2000"/>
            </a:pPr>
            <a:r>
              <a:t>Notebook state management</a:t>
            </a:r>
          </a:p>
          <a:p>
            <a:pPr>
              <a:spcBef>
                <a:spcPts val="1200"/>
              </a:spcBef>
              <a:defRPr sz="2000"/>
            </a:pPr>
            <a:r>
              <a:t>All resolved with clean solutions ✓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/>
            </a:pPr>
            <a:r>
              <a:t>Remote operations (push/pull)</a:t>
            </a:r>
          </a:p>
          <a:p>
            <a:pPr>
              <a:spcBef>
                <a:spcPts val="1200"/>
              </a:spcBef>
              <a:defRPr sz="2000"/>
            </a:pPr>
            <a:r>
              <a:t>Advanced merge strategies</a:t>
            </a:r>
          </a:p>
          <a:p>
            <a:pPr>
              <a:spcBef>
                <a:spcPts val="1200"/>
              </a:spcBef>
              <a:defRPr sz="2000"/>
            </a:pPr>
            <a:r>
              <a:t>Pack files for compression</a:t>
            </a:r>
          </a:p>
          <a:p>
            <a:pPr>
              <a:spcBef>
                <a:spcPts val="1200"/>
              </a:spcBef>
              <a:defRPr sz="2000"/>
            </a:pPr>
            <a:r>
              <a:t>Additional commands (stash, rebase)</a:t>
            </a:r>
          </a:p>
          <a:p>
            <a:pPr>
              <a:spcBef>
                <a:spcPts val="1200"/>
              </a:spcBef>
              <a:defRPr sz="2000"/>
            </a:pPr>
            <a:r>
              <a:t>Graphical visualization tools</a:t>
            </a:r>
          </a:p>
          <a:p>
            <a:pPr>
              <a:spcBef>
                <a:spcPts val="1200"/>
              </a:spcBef>
              <a:defRPr sz="2000"/>
            </a:pPr>
            <a:r>
              <a:t>Performance optimizations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Project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/>
            </a:pPr>
            <a:r>
              <a:t>Successfully implemented version control system</a:t>
            </a:r>
          </a:p>
          <a:p>
            <a:pPr>
              <a:spcBef>
                <a:spcPts val="1200"/>
              </a:spcBef>
              <a:defRPr sz="2000"/>
            </a:pPr>
            <a:r>
              <a:t>Demonstrated mastery of DSA concepts</a:t>
            </a:r>
          </a:p>
          <a:p>
            <a:pPr>
              <a:spcBef>
                <a:spcPts val="1200"/>
              </a:spcBef>
              <a:defRPr sz="2000"/>
            </a:pPr>
            <a:r>
              <a:t>Achieved all project objectives</a:t>
            </a:r>
          </a:p>
          <a:p>
            <a:pPr>
              <a:spcBef>
                <a:spcPts val="1200"/>
              </a:spcBef>
              <a:defRPr sz="2000"/>
            </a:pPr>
            <a:r>
              <a:t>100% test success rate</a:t>
            </a:r>
          </a:p>
          <a:p>
            <a:pPr>
              <a:spcBef>
                <a:spcPts val="1200"/>
              </a:spcBef>
              <a:defRPr sz="2000"/>
            </a:pPr>
            <a:r>
              <a:t>Production-quality code</a:t>
            </a:r>
          </a:p>
          <a:p>
            <a:pPr>
              <a:spcBef>
                <a:spcPts val="1200"/>
              </a:spcBef>
              <a:defRPr sz="2000"/>
            </a:pPr>
            <a:r>
              <a:t>Complete documentation</a:t>
            </a:r>
          </a:p>
          <a:p>
            <a:pPr>
              <a:spcBef>
                <a:spcPts val="1200"/>
              </a:spcBef>
              <a:defRPr sz="2000"/>
            </a:pPr>
            <a:r>
              <a:t>Ready for real-world use!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Questions &amp;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ADD8E6"/>
                </a:solidFill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